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FCCE2F-8F32-4FC1-82EE-0104FF44203C}">
  <a:tblStyle styleId="{45FCCE2F-8F32-4FC1-82EE-0104FF44203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993701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8ADD"/>
                </a:solidFill>
                <a:latin typeface="Urbanist"/>
                <a:ea typeface="Urbanist"/>
                <a:cs typeface="Urbanist"/>
                <a:sym typeface="Urbanist"/>
              </a:rPr>
              <a:t>ANNUAL PERFORMANCE REVIEW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422326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From Raw Data 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78ADD"/>
                </a:solidFill>
                <a:latin typeface="Urbanist"/>
                <a:ea typeface="Urbanist"/>
                <a:cs typeface="Urbanist"/>
                <a:sym typeface="Urbanist"/>
              </a:rPr>
              <a:t>Revenue Story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121348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FY 2024 E-Commerce Analytics: Forecasting, SQL Insights, and Actionable Growth Strategies.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19573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78ADD"/>
                </a:solidFill>
                <a:latin typeface="Urbanist"/>
                <a:ea typeface="Urbanist"/>
                <a:cs typeface="Urbanist"/>
                <a:sym typeface="Urbanist"/>
              </a:rPr>
              <a:t>FY 2024 Highlights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2366962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We achieved </a:t>
            </a:r>
            <a:r>
              <a:rPr b="1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$4.2M in Total Revenue</a:t>
            </a: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, marking a significant </a:t>
            </a:r>
            <a:r>
              <a:rPr b="0" i="0" lang="en-US" sz="1500" u="none" cap="none" strike="noStrike">
                <a:solidFill>
                  <a:srgbClr val="1D9E75"/>
                </a:solidFill>
                <a:latin typeface="Urbanist"/>
                <a:ea typeface="Urbanist"/>
                <a:cs typeface="Urbanist"/>
                <a:sym typeface="Urbanist"/>
              </a:rPr>
              <a:t>18.3% YoY growth</a:t>
            </a: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. This performance was driven by quality-led expansion in premium segments.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3376612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APAC region emerged as the primary growth engine.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3805237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AOV increased by 6.0%, reaching a global average of $109.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4233862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Onboarding redesign successfully boosted M1 retention.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194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481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7672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Executive Summary: The Big Picture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820465" y="2424112"/>
            <a:ext cx="85510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b="1" i="0" lang="en-US" sz="6000" u="none" cap="none" strike="noStrike">
                <a:solidFill>
                  <a:srgbClr val="378ADD"/>
                </a:solidFill>
                <a:latin typeface="Urbanist"/>
                <a:ea typeface="Urbanist"/>
                <a:cs typeface="Urbanist"/>
                <a:sym typeface="Urbanist"/>
              </a:rPr>
              <a:t>Deep Dive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524500" y="3624262"/>
            <a:ext cx="1143000" cy="3810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486025" y="3948112"/>
            <a:ext cx="7219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Analyzing regional growth, KPI variance, and customer value distribution.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00275"/>
            <a:ext cx="25431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200275"/>
            <a:ext cx="25431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200275"/>
            <a:ext cx="254317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2200275"/>
            <a:ext cx="254317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5095875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Regional churn tracking is required to mitigate the 1.1pp increase observed in Q4.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76300" y="3143250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$4.2M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76300" y="3562350"/>
            <a:ext cx="1952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Total Revenue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76300" y="3990975"/>
            <a:ext cx="1952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9E75"/>
                </a:solidFill>
                <a:latin typeface="Urbanist"/>
                <a:ea typeface="Urbanist"/>
                <a:cs typeface="Urbanist"/>
                <a:sym typeface="Urbanist"/>
              </a:rPr>
              <a:t>↑ 18.3% YoY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705225" y="3143250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38,490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705225" y="3562350"/>
            <a:ext cx="1952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Total Orders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705225" y="3990975"/>
            <a:ext cx="1952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9E75"/>
                </a:solidFill>
                <a:latin typeface="Urbanist"/>
                <a:ea typeface="Urbanist"/>
                <a:cs typeface="Urbanist"/>
                <a:sym typeface="Urbanist"/>
              </a:rPr>
              <a:t>↑ 11.6% YoY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534150" y="3143250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$109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534150" y="3562350"/>
            <a:ext cx="1952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Avg Order Value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534150" y="3990975"/>
            <a:ext cx="1952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9E75"/>
                </a:solidFill>
                <a:latin typeface="Urbanist"/>
                <a:ea typeface="Urbanist"/>
                <a:cs typeface="Urbanist"/>
                <a:sym typeface="Urbanist"/>
              </a:rPr>
              <a:t>↑ 6.0% YoY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363075" y="3143250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12.4%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363075" y="3562350"/>
            <a:ext cx="1952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Churn Rate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363075" y="3990975"/>
            <a:ext cx="1952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85A30"/>
                </a:solidFill>
                <a:latin typeface="Urbanist"/>
                <a:ea typeface="Urbanist"/>
                <a:cs typeface="Urbanist"/>
                <a:sym typeface="Urbanist"/>
              </a:rPr>
              <a:t>↑ 1.1pp YoY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5241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5225" y="25241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5241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3075" y="25241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FY 2024 Global KPI Dashboard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57387"/>
            <a:ext cx="110299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73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669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APAC Dominance in Global Growth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2100500" y="2424112"/>
            <a:ext cx="799099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Operational </a:t>
            </a:r>
            <a:r>
              <a:rPr b="1" i="0" lang="en-US" sz="6000" u="none" cap="none" strike="noStrike">
                <a:solidFill>
                  <a:srgbClr val="1D9E75"/>
                </a:solidFill>
                <a:latin typeface="Urbanist"/>
                <a:ea typeface="Urbanist"/>
                <a:cs typeface="Urbanist"/>
                <a:sym typeface="Urbanist"/>
              </a:rPr>
              <a:t>Efficiency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524500" y="3624262"/>
            <a:ext cx="1143000" cy="3810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590800" y="3948112"/>
            <a:ext cx="7010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Optimization of the conversion funnel and customer lifecycle retention.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81025" y="3033712"/>
            <a:ext cx="24669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378ADD"/>
                </a:solidFill>
                <a:latin typeface="Urbanist"/>
                <a:ea typeface="Urbanist"/>
                <a:cs typeface="Urbanist"/>
                <a:sym typeface="Urbanist"/>
              </a:rPr>
              <a:t>34%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81025" y="4367212"/>
            <a:ext cx="24669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4B2A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Drop at Checkout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3524250" y="2681287"/>
            <a:ext cx="8401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Funnel Performance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3524250" y="2900362"/>
            <a:ext cx="800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With 520K sessions translating to 38K purchases, the primary leak occurs at the checkout stage.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3524250" y="4614862"/>
            <a:ext cx="800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85A30"/>
                </a:solidFill>
                <a:latin typeface="Urbanist"/>
                <a:ea typeface="Urbanist"/>
                <a:cs typeface="Urbanist"/>
                <a:sym typeface="Urbanist"/>
              </a:rPr>
              <a:t>Recovering just 8% of abandoned carts adds $380K to ARR.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3524250" y="3338512"/>
            <a:ext cx="800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Sessions: 520,000 (100%)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3524250" y="3738562"/>
            <a:ext cx="800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Add to Cart: 96,000 (18%)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3524250" y="4138612"/>
            <a:ext cx="800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Purchase: 38,490 (7.4%)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0" y="33813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0" y="37814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0" y="418147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Closing the $380K Checkout Gap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81025" y="4957762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9E75"/>
                </a:solidFill>
                <a:latin typeface="Urbanist"/>
                <a:ea typeface="Urbanist"/>
                <a:cs typeface="Urbanist"/>
                <a:sym typeface="Urbanist"/>
              </a:rPr>
              <a:t>Strategy Success:</a:t>
            </a: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 M1 retention improved from 68% to 74% following the June onboarding redesign. Target is 75% for Q1 2025.</a:t>
            </a:r>
            <a:endParaRPr/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581025" y="2338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{45FCCE2F-8F32-4FC1-82EE-0104FF44203C}</a:tableStyleId>
              </a:tblPr>
              <a:tblGrid>
                <a:gridCol w="2372325"/>
                <a:gridCol w="1862125"/>
                <a:gridCol w="1734600"/>
                <a:gridCol w="1683550"/>
                <a:gridCol w="1683550"/>
                <a:gridCol w="1684275"/>
              </a:tblGrid>
              <a:tr h="58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8ADD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Cohort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8ADD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8ADD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8ADD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8ADD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8ADD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720"/>
                    </a:solidFill>
                  </a:tcPr>
                </a:tc>
              </a:tr>
              <a:tr h="58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Jan 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 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Jun 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4B2A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20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Cohort Retention Matrix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2930604" y="2424112"/>
            <a:ext cx="63307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Strategic </a:t>
            </a:r>
            <a:r>
              <a:rPr b="1" i="0" lang="en-US" sz="6000" u="none" cap="none" strike="noStrike">
                <a:solidFill>
                  <a:srgbClr val="D85A30"/>
                </a:solidFill>
                <a:latin typeface="Urbanist"/>
                <a:ea typeface="Urbanist"/>
                <a:cs typeface="Urbanist"/>
                <a:sym typeface="Urbanist"/>
              </a:rPr>
              <a:t>Outlook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524500" y="3624262"/>
            <a:ext cx="1143000" cy="38100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514600" y="3948112"/>
            <a:ext cx="7162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Revenue forecasting and customer segmentation strategies for FY 2025.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47800"/>
            <a:ext cx="110299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762000" y="5267325"/>
            <a:ext cx="5191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Base Scenario:</a:t>
            </a: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 +2% MoM growth leads to </a:t>
            </a:r>
            <a:r>
              <a:rPr b="1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$5.1M ARR</a:t>
            </a: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 in 2025.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419850" y="5267325"/>
            <a:ext cx="5191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Bull Case:</a:t>
            </a: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 Premium expansion in APAC could push revenue to </a:t>
            </a:r>
            <a:r>
              <a:rPr b="1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$5.9M</a:t>
            </a: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FY 2025 Revenue Projections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287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28787"/>
            <a:ext cx="2519362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0887" y="1728787"/>
            <a:ext cx="2519362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57637"/>
            <a:ext cx="2519362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0887" y="3957637"/>
            <a:ext cx="2519362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7383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876300" y="2024062"/>
            <a:ext cx="202525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78ADD"/>
                </a:solidFill>
                <a:latin typeface="Urbanist"/>
                <a:ea typeface="Urbanist"/>
                <a:cs typeface="Urbanist"/>
                <a:sym typeface="Urbanist"/>
              </a:rPr>
              <a:t>Champions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876300" y="2443162"/>
            <a:ext cx="19288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6,928 Customers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76300" y="2871787"/>
            <a:ext cx="1928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Action: Reward with VIP early access.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3586162" y="2024062"/>
            <a:ext cx="202525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9E75"/>
                </a:solidFill>
                <a:latin typeface="Urbanist"/>
                <a:ea typeface="Urbanist"/>
                <a:cs typeface="Urbanist"/>
                <a:sym typeface="Urbanist"/>
              </a:rPr>
              <a:t>Loyal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3586162" y="2443162"/>
            <a:ext cx="19288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11,540 Customers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3586162" y="2871787"/>
            <a:ext cx="1928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Action: Upsell high-frequency items.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76300" y="4252912"/>
            <a:ext cx="202525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7F77DD"/>
                </a:solidFill>
                <a:latin typeface="Urbanist"/>
                <a:ea typeface="Urbanist"/>
                <a:cs typeface="Urbanist"/>
                <a:sym typeface="Urbanist"/>
              </a:rPr>
              <a:t>New Biz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76300" y="4672012"/>
            <a:ext cx="19288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8,260 Customers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876300" y="5100637"/>
            <a:ext cx="1928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Action: Trigger welcome drip series.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3586162" y="4252912"/>
            <a:ext cx="202525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85A30"/>
                </a:solidFill>
                <a:latin typeface="Urbanist"/>
                <a:ea typeface="Urbanist"/>
                <a:cs typeface="Urbanist"/>
                <a:sym typeface="Urbanist"/>
              </a:rPr>
              <a:t>At Risk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3586162" y="4672012"/>
            <a:ext cx="19288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2,412 Customers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3586162" y="5100637"/>
            <a:ext cx="1928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Action: Automated win-back campaign.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RFM Segmentation Strategy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047750"/>
            <a:ext cx="522922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81025" y="1914525"/>
            <a:ext cx="5490686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581025" y="315277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78ADD"/>
                </a:solidFill>
                <a:latin typeface="Urbanist"/>
                <a:ea typeface="Urbanist"/>
                <a:cs typeface="Urbanist"/>
                <a:sym typeface="Urbanist"/>
              </a:rPr>
              <a:t>Next Steps for Q1 2025:</a:t>
            </a:r>
            <a:endParaRPr/>
          </a:p>
        </p:txBody>
      </p:sp>
      <p:pic>
        <p:nvPicPr>
          <p:cNvPr descr="image.png" id="237" name="Google Shape;23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057275"/>
            <a:ext cx="5210175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581025" y="3648075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Scale APAC Premium SKUs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81025" y="4076700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A/B Test Checkout UX Optimization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81025" y="4505325"/>
            <a:ext cx="5229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Deploy RFM Win-back Campaigns</a:t>
            </a:r>
            <a:endParaRPr/>
          </a:p>
        </p:txBody>
      </p:sp>
      <p:pic>
        <p:nvPicPr>
          <p:cNvPr descr="image.png" id="241" name="Google Shape;24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90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195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548187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581025" y="22383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81025" y="300990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81025" y="378142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81025" y="30003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81025" y="30003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81025" y="37719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81025" y="37719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81025" y="45434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81025" y="45434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1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676400" y="238839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https://static.vecteezy.com/system/resources/thumbnails/052/958/468/small/modern-data-analytics-dashboard-display-free-photo.jpg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676400" y="262175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52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676400" y="315991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https://static.vecteezy.com/system/resources/previews/077/134/759/non_2x/abstract-data-visualization-blue-tones-image-vector.jpg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676400" y="339328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64" name="Google Shape;26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24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676400" y="393144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https://framerusercontent.com/images/FIXVBt1uzlwI4pavUKL76IEV0Ek.png?width=2000&amp;height=1326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676400" y="416480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shopreme.com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781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1676400" y="4695825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https://d3njjcbhbojbot.cloudfront.net/api/utilities/v1/imageproxy/https://images.ctfassets.net/wp1lcwdav1p1/7lNAyDcDf0sGWETXGwiGW2/6e528f7c5b69402a9932f477ce01fd60/GettyImages-1335397037-converted-from-jpg.webp?w=1500&amp;h=680&amp;q=60&amp;fit=fill&amp;f=faces&amp;fm=jpg&amp;fl=progressive&amp;auto=format%2Ccompress&amp;dpr=1&amp;w=1000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676400" y="5114925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4B2A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www.coursera.org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0EFE9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